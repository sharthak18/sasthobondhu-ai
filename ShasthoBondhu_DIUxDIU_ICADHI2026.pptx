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0D7A62">
              <a:alpha val="15000"/>
            </a:srgbClr>
          </a:solidFill>
          <a:ln w="12700">
            <a:solidFill>
              <a:srgbClr val="0D7A6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2103120" cy="274320"/>
          </a:xfrm>
          <a:prstGeom prst="rect">
            <a:avLst/>
          </a:prstGeom>
          <a:solidFill>
            <a:srgbClr val="00C97A">
              <a:alpha val="82000"/>
            </a:srgbClr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IEEE ICADHI 2026  ·  IDEA COMPETITION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92240" y="384048"/>
            <a:ext cx="2194560" cy="274320"/>
          </a:xfrm>
          <a:prstGeom prst="rect">
            <a:avLst/>
          </a:prstGeom>
          <a:solidFill>
            <a:srgbClr val="C47D0C">
              <a:alpha val="85000"/>
            </a:srgbClr>
          </a:solidFill>
          <a:ln w="12700">
            <a:solidFill>
              <a:srgbClr val="F5C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C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 DIUxDIU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ShasthoBondhu AI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আমার স্বাস্থ্য বন্ধু  —  My Health Companion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Voice-Powered Rural NCD Risk Intelligence &amp; Preventive Care Platform</a:t>
            </a:r>
            <a:pPr algn="l" indent="0" marL="0">
              <a:buNone/>
            </a:pPr>
            <a:r>
              <a:rPr lang="en-US" sz="1150" b="1" dirty="0">
                <a:solidFill>
                  <a:srgbClr val="F5C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Dhaka International University  ×  Daffodil International University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27432"/>
          </a:xfrm>
          <a:prstGeom prst="rect">
            <a:avLst/>
          </a:prstGeom>
          <a:solidFill>
            <a:srgbClr val="0D7A62">
              <a:alpha val="50000"/>
            </a:srgbClr>
          </a:solidFill>
          <a:ln w="12700">
            <a:solidFill>
              <a:srgbClr val="0D7A62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A8B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NAME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DIUxDIU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42032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A8B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SELECTED TRACK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42032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&amp; Remote Healthcare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26864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A8B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SIZE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26864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Members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11696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A8B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MODE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711696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Virtual — Voice-over Slides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5C49"/>
          </a:solidFill>
          <a:ln w="12700">
            <a:solidFill>
              <a:srgbClr val="0A5C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DIUxDIU</a:t>
            </a:r>
            <a:pPr algn="ctr" indent="0" marL="0">
              <a:buNone/>
            </a:pPr>
            <a:r>
              <a:rPr lang="en-US" sz="10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Dhaka International University  ×  Daffodil International University   ·   IEEE ICADHI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Bangladesh's healthcare crisis is a timing problem — not an access problem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1508760" cy="1170432"/>
          </a:xfrm>
          <a:prstGeom prst="rect">
            <a:avLst/>
          </a:prstGeom>
          <a:solidFill>
            <a:srgbClr val="FAEEE9"/>
          </a:solidFill>
          <a:ln w="12700">
            <a:solidFill>
              <a:srgbClr val="FAEE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225296"/>
            <a:ext cx="1362456" cy="514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0624" y="1755648"/>
            <a:ext cx="136245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Doctors 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 people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624" y="2083369"/>
            <a:ext cx="136245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lowest 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 — WHO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38528" y="1170432"/>
            <a:ext cx="1508760" cy="1170432"/>
          </a:xfrm>
          <a:prstGeom prst="rect">
            <a:avLst/>
          </a:prstGeom>
          <a:solidFill>
            <a:srgbClr val="FAEEE9"/>
          </a:solidFill>
          <a:ln w="12700">
            <a:solidFill>
              <a:srgbClr val="FAEE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225296"/>
            <a:ext cx="1362456" cy="514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&gt;70%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1755648"/>
            <a:ext cx="136245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Rural adults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 NCD risk factors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2083369"/>
            <a:ext cx="136245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Unscreened, undetected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(BMJ / PubMed)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529584" y="1170432"/>
            <a:ext cx="1508760" cy="1170432"/>
          </a:xfrm>
          <a:prstGeom prst="rect">
            <a:avLst/>
          </a:prstGeom>
          <a:solidFill>
            <a:srgbClr val="FAEEE9"/>
          </a:solidFill>
          <a:ln w="12700">
            <a:solidFill>
              <a:srgbClr val="FAEE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02736" y="1225296"/>
            <a:ext cx="1362456" cy="514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02736" y="1755648"/>
            <a:ext cx="136245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Rural internet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02736" y="2083369"/>
            <a:ext cx="136245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offline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450592"/>
            <a:ext cx="46634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problem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Bangladesh's doctors serve urban centres — yet 78% of the population lives rurally. Community Health Workers (CHWs) are the only healthcare contact for millions, but have no AI tools for early disease detection.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crisis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hypertension, diabetes, and cardiac conditions go undetected for years. When they finally reach a hospital, damage is irreversible — and the cost is catastrophic. No existing solution is Bangla-first, offline-capable, or designed around the CHW.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30368" y="1170432"/>
            <a:ext cx="3529584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12618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URBAN vs RURAL HEALTHCARE GAP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49240" y="1572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(22% of population)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17922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36208" y="1810512"/>
            <a:ext cx="2304288" cy="16459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1810512"/>
            <a:ext cx="506943" cy="16459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8015" y="1792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4924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36208" y="2084832"/>
            <a:ext cx="2304288" cy="16459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2084832"/>
            <a:ext cx="1843430" cy="164592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4502" y="20665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49240" y="2816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(78% of population)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30358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36208" y="3054096"/>
            <a:ext cx="2304288" cy="16459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36208" y="3054096"/>
            <a:ext cx="1797345" cy="16459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88417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49240" y="33101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36208" y="3328416"/>
            <a:ext cx="2304288" cy="16459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3328416"/>
            <a:ext cx="460858" cy="164592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51930" y="33101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59552" y="4242816"/>
            <a:ext cx="164592" cy="109728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42245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58000" y="4242816"/>
            <a:ext cx="164592" cy="10972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4224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47472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WHO, UNDP, BDHS 2017–18, PubMed / BMJ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ShasthoBondhu AI — four integrated AI layers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609344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EE5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1609344" cy="329184"/>
          </a:xfrm>
          <a:prstGeom prst="rect">
            <a:avLst/>
          </a:prstGeom>
          <a:solidFill>
            <a:srgbClr val="E8F7F3"/>
          </a:solidFill>
          <a:ln w="12700">
            <a:solidFill>
              <a:srgbClr val="9EE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88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🎙️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Bangla Voice Input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14264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 naturally. Whisper ASR + custom Bangla NLP extracts symptoms, duration &amp; severity.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01952" y="2532888"/>
            <a:ext cx="73152" cy="7315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024128"/>
            <a:ext cx="1609344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EE5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024128"/>
            <a:ext cx="1609344" cy="329184"/>
          </a:xfrm>
          <a:prstGeom prst="rect">
            <a:avLst/>
          </a:prstGeom>
          <a:solidFill>
            <a:srgbClr val="E8F7F3"/>
          </a:solidFill>
          <a:ln w="12700">
            <a:solidFill>
              <a:srgbClr val="9EE5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1088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66544" y="14264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84832" y="19202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Symptom Parse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84832" y="2395728"/>
            <a:ext cx="14264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maps free speech to structured: condition, body part, severity, duration.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21024" y="2532888"/>
            <a:ext cx="73152" cy="7315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024128"/>
            <a:ext cx="1609344" cy="3090672"/>
          </a:xfrm>
          <a:prstGeom prst="rect">
            <a:avLst/>
          </a:prstGeom>
          <a:solidFill>
            <a:srgbClr val="0D7A62"/>
          </a:solidFill>
          <a:ln w="25400">
            <a:solidFill>
              <a:srgbClr val="0D7A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1024128"/>
            <a:ext cx="1609344" cy="329184"/>
          </a:xfrm>
          <a:prstGeom prst="rect">
            <a:avLst/>
          </a:prstGeom>
          <a:solidFill>
            <a:srgbClr val="0A5C49"/>
          </a:solidFill>
          <a:ln w="12700">
            <a:solidFill>
              <a:srgbClr val="0A5C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088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85616" y="14264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803904" y="19202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E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Risk Scoring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03904" y="2395728"/>
            <a:ext cx="14264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(BDHS-trained):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0.30·D + 0.25·H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+ 0.20·A + 0.15·S + 0.10·L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 &lt; 1 second.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0096" y="2532888"/>
            <a:ext cx="73152" cy="7315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1024128"/>
            <a:ext cx="1609344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EE5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31536" y="1024128"/>
            <a:ext cx="1609344" cy="329184"/>
          </a:xfrm>
          <a:prstGeom prst="rect">
            <a:avLst/>
          </a:prstGeom>
          <a:solidFill>
            <a:srgbClr val="E8F7F3"/>
          </a:solidFill>
          <a:ln w="12700">
            <a:solidFill>
              <a:srgbClr val="9EE5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1088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04688" y="14264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🚦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522976" y="19202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Triage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22976" y="2395728"/>
            <a:ext cx="14264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&lt; 30: self-care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30–65: monitoring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&gt; 65: urgent referral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auto-created, pre-filled.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59168" y="2532888"/>
            <a:ext cx="73152" cy="7315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1024128"/>
            <a:ext cx="1609344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EE5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024128"/>
            <a:ext cx="1609344" cy="329184"/>
          </a:xfrm>
          <a:prstGeom prst="rect">
            <a:avLst/>
          </a:prstGeom>
          <a:solidFill>
            <a:srgbClr val="E8F7F3"/>
          </a:solidFill>
          <a:ln w="12700">
            <a:solidFill>
              <a:srgbClr val="9EE5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088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23760" y="14264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242048" y="19202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Guidance + Referral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42048" y="2395728"/>
            <a:ext cx="14264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generates personalised Bangla guidance. High-risk: doctor auto-referred, family alerted.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Offline-First: </a:t>
            </a:r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runs on-device via TensorFlow Lite — no internet required. Works on ৳8,000 Android phones.</a:t>
            </a:r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Bangla-Native: </a:t>
            </a:r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speak naturally — no smartphone, no literacy, no English needed.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ShasthoBondhu AI unique — six dimensions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23774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24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16352" y="1024128"/>
            <a:ext cx="3090672" cy="292608"/>
          </a:xfrm>
          <a:prstGeom prst="rect">
            <a:avLst/>
          </a:prstGeom>
          <a:solidFill>
            <a:srgbClr val="FAEEE9"/>
          </a:solidFill>
          <a:ln w="12700">
            <a:solidFill>
              <a:srgbClr val="FAE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0241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Solutions 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1024128"/>
            <a:ext cx="2889504" cy="292608"/>
          </a:xfrm>
          <a:prstGeom prst="rect">
            <a:avLst/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02412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ShasthoBondhu AI 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316736"/>
            <a:ext cx="23774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533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Voice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16352" y="1316736"/>
            <a:ext cx="3090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353312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text input — unusable for rural patients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1316736"/>
            <a:ext cx="2889504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353312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voice-first — speak naturally, AI understands &amp; responds in Bangla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1801368"/>
            <a:ext cx="2377440" cy="4846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83794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16352" y="1801368"/>
            <a:ext cx="3090672" cy="4846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183794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— fails where rural internet is 36.5%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1801368"/>
            <a:ext cx="2889504" cy="4846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837944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— TF-Lite on-device inference, zero internet needed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286000"/>
            <a:ext cx="23774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3225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16352" y="2286000"/>
            <a:ext cx="3090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7792" y="232257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global datasets with no Bangladesh calibration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2286000"/>
            <a:ext cx="2889504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322576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trained on BDHS Bangladesh data — locally validated NCD 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2770632"/>
            <a:ext cx="2377440" cy="484632"/>
          </a:xfrm>
          <a:prstGeom prst="rect">
            <a:avLst/>
          </a:prstGeom>
          <a:solidFill>
            <a:srgbClr val="FDF3D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8072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 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16352" y="2770632"/>
            <a:ext cx="3090672" cy="484632"/>
          </a:xfrm>
          <a:prstGeom prst="rect">
            <a:avLst/>
          </a:prstGeom>
          <a:solidFill>
            <a:srgbClr val="FAEEE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280720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literate patients with their own smartphone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2770632"/>
            <a:ext cx="2889504" cy="484632"/>
          </a:xfrm>
          <a:prstGeom prst="rect">
            <a:avLst/>
          </a:prstGeom>
          <a:solidFill>
            <a:srgbClr val="E8F7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807208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5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 as primary user — patients only speak. Unlocks the entire rural population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3255264"/>
            <a:ext cx="23774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16352" y="3255264"/>
            <a:ext cx="3090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07792" y="32918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symptom checking or diagnosis — no follow-through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3255264"/>
            <a:ext cx="2889504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32918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score → triage → auto-referral with pre-filled summary → family alert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3739896"/>
            <a:ext cx="2377440" cy="4846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7764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16352" y="3739896"/>
            <a:ext cx="3090672" cy="4846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07792" y="3776472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advice, no personalisation, no Bangla TTS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89320" y="3739896"/>
            <a:ext cx="2889504" cy="4846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3776472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individual Bangla guidance + reads it aloud for low-literacy patients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7472" y="4791456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CHW-as-primary-user design is the most critical innovation — it unlocks preventive care for people who have never owned a smartphone and never will.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benefits + a real business model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270662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24128"/>
            <a:ext cx="2706624" cy="54864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Patients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NCD risk detected years before crisis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Bangla guidance — audio readback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travel cost — care at community level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longitudinal health record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2523744"/>
            <a:ext cx="2706624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523744"/>
            <a:ext cx="2706624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3347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CHWs &amp; Doctors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944368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— 40% productivity increase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referral summaries save 10–15 min/case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high-risk patients forwarded to doctors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913632"/>
            <a:ext cx="270662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3913632"/>
            <a:ext cx="270662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0233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Health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4334256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NCD heatmaps for Ministry of Health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overcrowding reduced — low-risk handled locally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36976" y="1024128"/>
            <a:ext cx="5559552" cy="389534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01568" y="109728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 &amp; REVENUE MODEL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46704" y="1426464"/>
            <a:ext cx="5340096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243F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4813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rural NCD risk population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36208" y="14630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40.1 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36208" y="166420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30+ with 3+ risk factors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46704" y="1920240"/>
            <a:ext cx="5340096" cy="420624"/>
          </a:xfrm>
          <a:prstGeom prst="rect">
            <a:avLst/>
          </a:prstGeom>
          <a:solidFill>
            <a:srgbClr val="162F4E"/>
          </a:solidFill>
          <a:ln w="12700">
            <a:solidFill>
              <a:srgbClr val="243F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9751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active users at 15% adoption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19568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6.0 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36208" y="215798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46704" y="2414016"/>
            <a:ext cx="5340096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243F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2468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NGO/Govt. subscription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45059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BDT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36208" y="265176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 / per month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346704" y="2907792"/>
            <a:ext cx="5340096" cy="420624"/>
          </a:xfrm>
          <a:prstGeom prst="rect">
            <a:avLst/>
          </a:prstGeom>
          <a:solidFill>
            <a:srgbClr val="162F4E"/>
          </a:solidFill>
          <a:ln w="12700">
            <a:solidFill>
              <a:srgbClr val="243F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29626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at target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36208" y="294436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cr BDT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36208" y="314553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6M × 20 BDT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46704" y="3401568"/>
            <a:ext cx="5340096" cy="658368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4564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EE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ECOSYSTEM VALUE (Year 3)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93008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× 20 BDT × 12 months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70448" y="34290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144 crore BDT/yr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346704" y="4133088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streams: NGO/Govt subscriptions · Telemedicine commissions · API licensing to hospital networks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491947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data: LMIC AI deployment evidence — 30–45% reduction in late-stage NCD presentations within 3 years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platform built to scale — from upazila to national to global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2798064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972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EE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E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– 6 months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&amp; Pilot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voice + risk model v1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CHW app (offline)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100-patient upazila pilot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(BDHS data)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live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32304" y="1005840"/>
            <a:ext cx="2011680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0972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42032" y="126187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– 18 months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42032" y="14630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NGO Validation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828800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/ icddr,b partnership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Bluetooth vital integration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referral live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10,000-patient study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submission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90288" y="1005840"/>
            <a:ext cx="2011680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0016" y="10972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00016" y="126187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– 36 months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0016" y="14630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Govt 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1828800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DGHS / MoH API integration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5-district rollout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module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care screening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grant funding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48272" y="1005840"/>
            <a:ext cx="2011680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10972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0" y="126187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years+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4630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&amp; Export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CHW deployment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imaging (ultrasound)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health agent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Myanmar, Nepal, India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investment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877056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77056"/>
            <a:ext cx="54864" cy="1024128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91363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Markets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0624" y="4151376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CHW model, same NCD burden, same connectivity constraints in Myanmar, Nepal, and rural India (Bihar, West Bengal). Language retraining only — core AI unchanged.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3877056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3877056"/>
            <a:ext cx="54864" cy="102412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391363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API-First Scalability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28416" y="4151376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NGO, hospital, or government ministry integrates via REST API. AWS auto-scaling handles 100 to 1 million users without architecture changes.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9904" y="3877056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9904" y="3877056"/>
            <a:ext cx="54864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391363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Alignment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36208" y="4151376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supports Bangladesh National Digital Health Strategy 2023–2027 and Smart Bangladesh 2041 AI healthcare goals. Grant-eligible: WHO, Gates Foundation, USAID.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62"/>
          </a:solidFill>
          <a:ln w="12700">
            <a:solidFill>
              <a:srgbClr val="0D7A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114800" cy="4114800"/>
          </a:xfrm>
          <a:prstGeom prst="ellipse">
            <a:avLst/>
          </a:prstGeom>
          <a:solidFill>
            <a:srgbClr val="0D7A62">
              <a:alpha val="10000"/>
            </a:srgbClr>
          </a:solidFill>
          <a:ln w="12700">
            <a:solidFill>
              <a:srgbClr val="0D7A62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ShasthoBondhu AI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আমার স্বাস্থ্য বন্ধু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healthcare should reach everyone —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those near a city.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18688"/>
            <a:ext cx="3291840" cy="274320"/>
          </a:xfrm>
          <a:prstGeom prst="rect">
            <a:avLst/>
          </a:prstGeom>
          <a:solidFill>
            <a:srgbClr val="0D7A62">
              <a:alpha val="20000"/>
            </a:srgbClr>
          </a:solidFill>
          <a:ln w="12700">
            <a:solidFill>
              <a:srgbClr val="0D7A62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Telemedicine &amp; Remote Healthcare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291840" cy="274320"/>
          </a:xfrm>
          <a:prstGeom prst="rect">
            <a:avLst/>
          </a:prstGeom>
          <a:solidFill>
            <a:srgbClr val="0D7A62">
              <a:alpha val="20000"/>
            </a:srgbClr>
          </a:solidFill>
          <a:ln w="12700">
            <a:solidFill>
              <a:srgbClr val="0D7A62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Healthcare Systems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913632"/>
            <a:ext cx="3291840" cy="274320"/>
          </a:xfrm>
          <a:prstGeom prst="rect">
            <a:avLst/>
          </a:prstGeom>
          <a:solidFill>
            <a:srgbClr val="0D7A62">
              <a:alpha val="20000"/>
            </a:srgbClr>
          </a:solidFill>
          <a:ln w="12700">
            <a:solidFill>
              <a:srgbClr val="0D7A62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Generative AI in Healthcare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3218688"/>
            <a:ext cx="3291840" cy="274320"/>
          </a:xfrm>
          <a:prstGeom prst="rect">
            <a:avLst/>
          </a:prstGeom>
          <a:solidFill>
            <a:srgbClr val="0D7A62">
              <a:alpha val="20000"/>
            </a:srgbClr>
          </a:solidFill>
          <a:ln w="12700">
            <a:solidFill>
              <a:srgbClr val="0D7A62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Health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0" y="3566160"/>
            <a:ext cx="3291840" cy="274320"/>
          </a:xfrm>
          <a:prstGeom prst="rect">
            <a:avLst/>
          </a:prstGeom>
          <a:solidFill>
            <a:srgbClr val="0D7A62">
              <a:alpha val="20000"/>
            </a:srgbClr>
          </a:solidFill>
          <a:ln w="12700">
            <a:solidFill>
              <a:srgbClr val="0D7A62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IoT &amp; Wearables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3913632"/>
            <a:ext cx="3291840" cy="274320"/>
          </a:xfrm>
          <a:prstGeom prst="rect">
            <a:avLst/>
          </a:prstGeom>
          <a:solidFill>
            <a:srgbClr val="0D7A62">
              <a:alpha val="20000"/>
            </a:srgbClr>
          </a:solidFill>
          <a:ln w="12700">
            <a:solidFill>
              <a:srgbClr val="0D7A62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Edge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5C49"/>
          </a:solidFill>
          <a:ln w="12700">
            <a:solidFill>
              <a:srgbClr val="0A5C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DIUxDIU</a:t>
            </a:r>
            <a:pPr algn="ctr" indent="0" marL="0">
              <a:buNone/>
            </a:pPr>
            <a:r>
              <a:rPr lang="en-US" sz="1000" dirty="0">
                <a:solidFill>
                  <a:srgbClr val="9EE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Dhaka International University  ×  Daffodil International University   ·   IEEE ICADHI 2026  ·  Idea Competition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ShasthoBondhu AI — ICADHI 2026 Idea Competition</dc:title>
  <dc:subject>PptxGenJS Presentation</dc:subject>
  <dc:creator>Team DIUxDIU — Dhaka International University x Daffodil International University</dc:creator>
  <cp:lastModifiedBy>Team DIUxDIU — Dhaka International University x Daffodil International University</cp:lastModifiedBy>
  <cp:revision>1</cp:revision>
  <dcterms:created xsi:type="dcterms:W3CDTF">2026-05-25T08:22:45Z</dcterms:created>
  <dcterms:modified xsi:type="dcterms:W3CDTF">2026-05-25T08:22:45Z</dcterms:modified>
</cp:coreProperties>
</file>